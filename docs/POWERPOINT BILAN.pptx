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h267f1cc700068e27_3_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h267f1cc700068e27_3_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h267f1cc700068e27_3_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h267f1cc700068e27_3_1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h267f1cc700068e27_3_1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h267f1cc700068e27_3_1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267f1cc700068e27_3_19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h267f1cc700068e27_3_19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h267f1cc700068e27_3_19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267f1cc700068e27_3_2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h267f1cc700068e27_3_2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h267f1cc700068e27_3_2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267f1cc700068e27_3_3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h267f1cc700068e27_3_3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h267f1cc700068e27_3_3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267f1cc700068e27_3_4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h267f1cc700068e27_3_4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h267f1cc700068e27_3_4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267f1cc700068e27_3_5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h267f1cc700068e27_3_5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h267f1cc700068e27_3_5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h267f1cc700068e27_3_5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h267f1cc700068e27_3_5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h267f1cc700068e27_3_5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267f1cc700068e27_3_6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h267f1cc700068e27_3_6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h267f1cc700068e27_3_6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267f1cc700068e27_3_7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h267f1cc700068e27_3_7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267f1cc700068e27_3_7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267f1cc700068e27_3_8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h267f1cc700068e27_3_8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h267f1cc700068e27_3_8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267f1cc700068e27_3_9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h267f1cc700068e27_3_9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h267f1cc700068e27_3_9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h267f1cc700068e27_3_9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h267f1cc700068e27_3_9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h267f1cc700068e27_3_9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267f1cc700068e27_3_104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h267f1cc700068e27_3_104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h267f1cc700068e27_3_104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h267f1cc700068e27_3_11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h267f1cc700068e27_3_11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h267f1cc700068e27_3_11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A4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/>
        </p:nvSpPr>
        <p:spPr>
          <a:xfrm>
            <a:off x="548640" y="1783080"/>
            <a:ext cx="80238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fr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Touche pas au klaxon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6"/>
          <p:cNvSpPr txBox="1"/>
          <p:nvPr/>
        </p:nvSpPr>
        <p:spPr>
          <a:xfrm>
            <a:off x="548640" y="2468880"/>
            <a:ext cx="80238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400"/>
              <a:buFont typeface="Calibri"/>
              <a:buNone/>
            </a:pPr>
            <a:r>
              <a:rPr b="0" i="0" lang="fr" sz="1400" u="none" cap="none" strike="noStrike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Application web de mise en relation covoiturage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6"/>
          <p:cNvSpPr txBox="1"/>
          <p:nvPr/>
        </p:nvSpPr>
        <p:spPr>
          <a:xfrm>
            <a:off x="548640" y="3360420"/>
            <a:ext cx="8023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0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8FA3C0"/>
                </a:solidFill>
                <a:latin typeface="Calibri"/>
                <a:ea typeface="Calibri"/>
                <a:cs typeface="Calibri"/>
                <a:sym typeface="Calibri"/>
              </a:rPr>
              <a:t>Titre professionnel Développeur Web et Web Mobile — Niveau 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6"/>
          <p:cNvSpPr txBox="1"/>
          <p:nvPr/>
        </p:nvSpPr>
        <p:spPr>
          <a:xfrm>
            <a:off x="548640" y="3634740"/>
            <a:ext cx="80238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A0A0"/>
              </a:buClr>
              <a:buSzPts val="1100"/>
              <a:buFont typeface="Calibri"/>
              <a:buNone/>
            </a:pPr>
            <a:r>
              <a:rPr lang="fr" sz="1100">
                <a:solidFill>
                  <a:srgbClr val="E0A0A0"/>
                </a:solidFill>
                <a:latin typeface="Calibri"/>
                <a:ea typeface="Calibri"/>
                <a:cs typeface="Calibri"/>
                <a:sym typeface="Calibri"/>
              </a:rPr>
              <a:t>Thomas Campagne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7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Plan de la présentation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 txBox="1"/>
          <p:nvPr/>
        </p:nvSpPr>
        <p:spPr>
          <a:xfrm>
            <a:off x="411480" y="1851660"/>
            <a:ext cx="829818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Expression des besoins du projet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Environnement technique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Réalisations front-end (maquettage, interfaces statiques, dynamiques)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Réalisations back-end (base de données, accès aux données, composants métier)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Sécurité et jeu d'essai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Veille technologique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Synthèse et conclusion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Contexte du projet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8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Expression des besoins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8"/>
          <p:cNvSpPr txBox="1"/>
          <p:nvPr/>
        </p:nvSpPr>
        <p:spPr>
          <a:xfrm>
            <a:off x="411480" y="1851660"/>
            <a:ext cx="829818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Covoiturage inter-sites : des employés proposent des trajets entre agences de l'entreprise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Projet réalisé pendant la formation, en autonomie (pas de commanditaire externe)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Comptes créés par un administrateur (pas d'inscription publique)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Consultation des trajets, coordonnées du proposant, espace admin (agences/employés/trajets)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Environnement technique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Architecture du projet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411480" y="1851660"/>
            <a:ext cx="829818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PHP 8.2+ avec Composer : izniburak/router, vlucas/phpdotenv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Architecture MVC (PSR-4, namespace App\) : Controllers, Models, 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Bootstrap (npm/Sass) pour l'UI, JavaScript natif pour la partie dynamique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PHPUnit + PHPStan pour la qualité de code ; stockage JSON (NoSQL) en complément du relationnel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Front-end — Maquettage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0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Maquetter des interfaces utilisateur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411480" y="164592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Écrans modélisés : connexion, liste des trajets, détail (modale), proposer un trajet, admin (+ adaptation mobile)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wwm-projet/img/00-maquettes-crop.png" id="94" name="Google Shape;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8880" y="2023110"/>
            <a:ext cx="2530602" cy="26746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0"/>
          <p:cNvSpPr txBox="1"/>
          <p:nvPr/>
        </p:nvSpPr>
        <p:spPr>
          <a:xfrm>
            <a:off x="411480" y="4732020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1" lang="fr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Extrait des wireframes basse fidélité (voir fichier maquettes-touche-pas-au-klaxon.html)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Front-end — Intégration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Réaliser des interfaces utilisateur statiques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411480" y="164592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HTML5 (vues PHP) + Bootstrap (npm/Sass), responsive, htmlspecialchars() partout (anti-XSS)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wwm-projet/img/03-trajets-connecte.png" id="104" name="Google Shape;1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1570" y="2057400"/>
            <a:ext cx="6858000" cy="244830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411480" y="4629150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1" lang="fr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Liste des trajets — employé connecté (app/Views/trajets/index.php)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Front-end — JavaScript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2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Développer la partie dynamique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411480" y="1851660"/>
            <a:ext cx="829818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Filtrage instantané du tableau des trajets (ville départ/arrivée), sans rechargement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Validation en temps réel du formulaire, miroir de TrajetController::validate()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Agences différentes, date d'arrivée &gt; départ, places ≥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Validation client = confort UX ; la validation serveur reste systématique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Back-end — Données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3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Mettre en place une base de données relationnelle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411480" y="1645920"/>
            <a:ext cx="8229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Entités : Employe, Agence, Trajet — relations et contraintes d'intégrité (clés étrangères)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wwm-projet/img/08-schema-conceptuel.png" id="122" name="Google Shape;12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4470" y="2057400"/>
            <a:ext cx="6172200" cy="23454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Back-end — Accès aux données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4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Composants SQL et NoSQL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4"/>
          <p:cNvSpPr txBox="1"/>
          <p:nvPr/>
        </p:nvSpPr>
        <p:spPr>
          <a:xfrm>
            <a:off x="411480" y="1851660"/>
            <a:ext cx="829818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SQL : requêtes préparées PDO dans EmployeModel, AgenceModel, TrajetModel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NoSQL : composant clé-valeur JSON (App\Services\JournalActiviteStore)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Cas d'usage NoSQL : journal des actions administrateur (création/modif/suppression)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Complémentarité : relationnel pour les données structurées, NoSQL pour un journal sans schéma fixe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Back-end — Logique métier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Composants métier côté serveur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 txBox="1"/>
          <p:nvPr/>
        </p:nvSpPr>
        <p:spPr>
          <a:xfrm>
            <a:off x="411480" y="1851660"/>
            <a:ext cx="829818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Contrôleurs (AuthController, TrajetController, AdminController)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Contrôle d'accès : requireLogin(), requireAdmin(), vérification de propriété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Style défensif : validate() reproduit et sécurisé côté serveur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Tests unitaires existants : TrajetModelTest, AgenceModelTest (PHPUnit)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Preuves de fonctionnement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Espace admin et tests unitaires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dwwm-projet/img/05-admin-dashboard.png" id="146" name="Google Shape;14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714500"/>
            <a:ext cx="4114800" cy="141274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6"/>
          <p:cNvSpPr/>
          <p:nvPr/>
        </p:nvSpPr>
        <p:spPr>
          <a:xfrm>
            <a:off x="4732020" y="1714500"/>
            <a:ext cx="3977640" cy="141274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6"/>
          <p:cNvSpPr txBox="1"/>
          <p:nvPr/>
        </p:nvSpPr>
        <p:spPr>
          <a:xfrm>
            <a:off x="4869180" y="1817370"/>
            <a:ext cx="37033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FA3C0"/>
              </a:buClr>
              <a:buSzPts val="800"/>
              <a:buFont typeface="Consolas"/>
              <a:buNone/>
            </a:pPr>
            <a:r>
              <a:rPr b="0" i="0" lang="fr" sz="800" u="none" cap="none" strike="noStrike">
                <a:solidFill>
                  <a:srgbClr val="8FA3C0"/>
                </a:solidFill>
                <a:latin typeface="Consolas"/>
                <a:ea typeface="Consolas"/>
                <a:cs typeface="Consolas"/>
                <a:sym typeface="Consolas"/>
              </a:rPr>
              <a:t>vendor/bin/phpunit --testdox</a:t>
            </a:r>
            <a:br>
              <a:rPr b="0" i="0" lang="fr" sz="800" u="none" cap="none" strike="noStrike">
                <a:solidFill>
                  <a:srgbClr val="8FA3C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fr" sz="800" u="none" cap="none" strike="noStrike">
                <a:solidFill>
                  <a:srgbClr val="8FA3C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fr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Agence Model</a:t>
            </a:r>
            <a:br>
              <a:rPr b="0" i="0" lang="fr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fr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✔ Create  ✔ Update  ✔ Delete</a:t>
            </a:r>
            <a:br>
              <a:rPr b="0" i="0" lang="fr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fr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fr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Trajet Model</a:t>
            </a:r>
            <a:br>
              <a:rPr b="0" i="0" lang="fr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fr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✔ Create  ✔ Update  ✔ Delete</a:t>
            </a:r>
            <a:br>
              <a:rPr b="0" i="0" lang="fr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fr" sz="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fr" sz="900" u="none" cap="none" strike="noStrike">
                <a:solidFill>
                  <a:srgbClr val="8BE28B"/>
                </a:solidFill>
                <a:latin typeface="Consolas"/>
                <a:ea typeface="Consolas"/>
                <a:cs typeface="Consolas"/>
                <a:sym typeface="Consolas"/>
              </a:rPr>
              <a:t>OK (6 tests, 6 assertions)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411480" y="3257550"/>
            <a:ext cx="82981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800"/>
              <a:buFont typeface="Calibri"/>
              <a:buNone/>
            </a:pPr>
            <a:r>
              <a:rPr b="0" i="1" lang="fr" sz="8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Tableau de bord admin (capture réelle)  —  Résultat réel de la suite PHPUnit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Qualité et sécurité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7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Sécurité et jeu d'essai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7"/>
          <p:cNvSpPr txBox="1"/>
          <p:nvPr/>
        </p:nvSpPr>
        <p:spPr>
          <a:xfrm>
            <a:off x="411480" y="1851660"/>
            <a:ext cx="829818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Mots de passe hachés (password_hash/password_verify)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Requêtes préparées PDO contre l'injection SQL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htmlspecialchars() systématique contre les failles XSS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Jeu d'essai : TrajetModelTest::testCreateTrajet (entrée / attendu / obtenu)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Amélioration continue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445768" y="713810"/>
            <a:ext cx="82296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Veille technologique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411480" y="1851660"/>
            <a:ext cx="829818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-254000" lvl="0" marL="25400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Suivi des bonnes pratiques PHP orienté objet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Calibri"/>
              <a:buChar char="•"/>
            </a:pPr>
            <a:r>
              <a:rPr b="0" i="0" lang="fr" sz="12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Recommandations ANSSI et guide OWASP pour la sécurité web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/>
        </p:nvSpPr>
        <p:spPr>
          <a:xfrm>
            <a:off x="411480" y="3429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6E9C"/>
              </a:buClr>
              <a:buSzPts val="1100"/>
              <a:buFont typeface="Calibri"/>
              <a:buNone/>
            </a:pPr>
            <a:r>
              <a:rPr b="1" i="0" lang="fr" sz="1100" u="none" cap="none" strike="noStrike">
                <a:solidFill>
                  <a:srgbClr val="3D6E9C"/>
                </a:solidFill>
                <a:latin typeface="Calibri"/>
                <a:ea typeface="Calibri"/>
                <a:cs typeface="Calibri"/>
                <a:sym typeface="Calibri"/>
              </a:rPr>
              <a:t>Bilan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411480" y="651510"/>
            <a:ext cx="8229600" cy="754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1F2A44"/>
                </a:solidFill>
                <a:latin typeface="Calibri"/>
                <a:ea typeface="Calibri"/>
                <a:cs typeface="Calibri"/>
                <a:sym typeface="Calibri"/>
              </a:rPr>
              <a:t>Synthèse et conclusion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411480" y="1714500"/>
            <a:ext cx="829818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100"/>
              <a:buFont typeface="Calibri"/>
              <a:buNone/>
            </a:pPr>
            <a:r>
              <a:rPr b="0" i="0" lang="fr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Architecture MVC construite sans framework complet (izniburak/router, vlucas/phpdotenv) : la principale difficulté a été de structurer soi-même le routage et la séparation des responsabilités.</a:t>
            </a:r>
            <a:br>
              <a:rPr b="0" i="0" lang="fr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fr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Cohérence entre validation client (JS, confort UX) et validation serveur (PHP, seule autorité fiable) : les deux couches reproduisent volontairement les mêmes règles métier.</a:t>
            </a:r>
            <a:br>
              <a:rPr b="0" i="0" lang="fr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fr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La vérification via le guide OWASP a révélé une amélioration de sécurité à apporter (protection CSRF), illustrant l'intérêt d'une veille continue.</a:t>
            </a:r>
            <a:br>
              <a:rPr b="0" i="0" lang="fr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fr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fr" sz="1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Pistes d'amélioration : protection CSRF sur les formulaires, tests unitaires côté contrôleurs, extension du journal NoSQL aux tentatives de connexion.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A44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/>
        </p:nvSpPr>
        <p:spPr>
          <a:xfrm>
            <a:off x="548640" y="2057400"/>
            <a:ext cx="80238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fr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Merci de votre attention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548640" y="2674620"/>
            <a:ext cx="80238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D6E8"/>
              </a:buClr>
              <a:buSzPts val="1400"/>
              <a:buFont typeface="Calibri"/>
              <a:buNone/>
            </a:pPr>
            <a:r>
              <a:rPr b="0" i="0" lang="fr" sz="1400" u="none" cap="none" strike="noStrike">
                <a:solidFill>
                  <a:srgbClr val="C9D6E8"/>
                </a:solidFill>
                <a:latin typeface="Calibri"/>
                <a:ea typeface="Calibri"/>
                <a:cs typeface="Calibri"/>
                <a:sym typeface="Calibri"/>
              </a:rPr>
              <a:t>Questions 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